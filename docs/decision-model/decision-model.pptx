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r" rtl="1"/>
            <a:r>
              <a:t>تحليل البيانات واتخاذ القرار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 rtl="1"/>
            <a:r>
              <a:t>من البيانات إلى القرار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المشكلة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الحاجة إلى قناة تسويق رقمي لإطلاق منتج جديد بميزانية محدودة وجمهور مستهدف واضح.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القرار المطلوب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اختيار قناة التسويق الرقمي الأنسب لإطلاق المنتج.</a:t>
            </a:r>
          </a:p>
          <a:p>
            <a:pPr algn="r" rtl="1">
              <a:defRPr sz="2000"/>
            </a:pPr>
            <a:r>
              <a:t>صاحب القرار: [يُحدد لاحقًا]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البيانات والمصادر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[مصادر البيانات وحجمها وفترتها]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منهجية التحليل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وصفي: ماذا حدث؟</a:t>
            </a:r>
          </a:p>
          <a:p>
            <a:pPr algn="r" rtl="1">
              <a:defRPr sz="2000"/>
            </a:pPr>
            <a:r>
              <a:t>• تشخيصي: لماذا حدث؟</a:t>
            </a:r>
          </a:p>
          <a:p>
            <a:pPr algn="r" rtl="1">
              <a:defRPr sz="2000"/>
            </a:pPr>
            <a:r>
              <a:t>• تنبؤي: ماذا سيحدث؟</a:t>
            </a:r>
          </a:p>
          <a:p>
            <a:pPr algn="r" rtl="1">
              <a:defRPr sz="2000"/>
            </a:pPr>
            <a:r>
              <a:t>• توجيهي: ماذا نفعل؟</a:t>
            </a:r>
          </a:p>
          <a:p>
            <a:pPr algn="r" rtl="1">
              <a:defRPr sz="2000"/>
            </a:pPr>
            <a:r>
              <a:t>• تقييم: مصفوفة قرار مرجحة، واختبار حساسية للأوزان (±10%) ومسح أحادي لنقاط الانقلاب، وهامش أمان، وانقلاب ثنائي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النتائج والرؤى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البديل الأعلى درجة: مدفوعة (7.85)</a:t>
            </a:r>
          </a:p>
          <a:p>
            <a:pPr algn="r" rtl="1">
              <a:defRPr sz="2000"/>
            </a:pPr>
            <a:r>
              <a:t>• الفارق عن البديل الثاني: 1.20 نقطة</a:t>
            </a:r>
          </a:p>
          <a:p>
            <a:pPr algn="r" rtl="1">
              <a:defRPr sz="2000"/>
            </a:pPr>
            <a:r>
              <a:t>• الفائز ثابت في 10 من 10 سيناريو حساسية (±10%)</a:t>
            </a:r>
          </a:p>
          <a:p>
            <a:pPr algn="r" rtl="1">
              <a:defRPr sz="2000"/>
            </a:pPr>
            <a:r>
              <a:t>• أقرب نقطة انقلاب: الاستدامة عند الوزن 0.31 (الحالي 0.10) ويصبح الفائز محتوى</a:t>
            </a:r>
          </a:p>
          <a:p>
            <a:pPr algn="r" rtl="1">
              <a:defRPr sz="2000"/>
            </a:pPr>
            <a:r>
              <a:t>• هامش الأمان: الفائز يصمد أمام تغيير نسبي ±34% لكل وزن على حدة، في أي تركيبة</a:t>
            </a:r>
          </a:p>
          <a:p>
            <a:pPr algn="r" rtl="1">
              <a:defRPr sz="2000"/>
            </a:pPr>
            <a:r>
              <a:t>• أسرع انقلاب مشترك: التكلفة + الاستدامة عند +0.084 لكل منهما (محتوى)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البدائل المطروحة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مدفوعة</a:t>
            </a:r>
          </a:p>
          <a:p>
            <a:pPr algn="r" rtl="1">
              <a:defRPr sz="2000"/>
            </a:pPr>
            <a:r>
              <a:t>• محتوى</a:t>
            </a:r>
          </a:p>
          <a:p>
            <a:pPr algn="r" rtl="1">
              <a:defRPr sz="2000"/>
            </a:pPr>
            <a:r>
              <a:t>• مؤثرون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مصفوفة التقييم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9728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المعيار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الوزن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مدفوعة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محتوى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مؤثرون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التكلفة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الوصول للجمهور المستهدف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سرعة النتائج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قابلية القياس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الاستدامة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الدرجة المرجحة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6.20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القرار والتوصية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التوصية: مدفوعة (الدرجة 7.85)</a:t>
            </a:r>
          </a:p>
          <a:p>
            <a:pPr algn="r" rtl="1">
              <a:defRPr sz="2000"/>
            </a:pPr>
            <a:r>
              <a:t>الترتيب: مدفوعة = 7.85 (المركز 1)، محتوى = 6.65 (المركز 2)، مؤثرون = 6.20 (المركز 3)</a:t>
            </a:r>
          </a:p>
          <a:p>
            <a:pPr algn="r" rtl="1">
              <a:defRPr sz="2000"/>
            </a:pPr>
            <a:r>
              <a:t>الفائز ثابت في 10 من 10 سيناريو حساسية (تغيير الأوزان ±10%)</a:t>
            </a:r>
          </a:p>
          <a:p>
            <a:pPr algn="r" rtl="1">
              <a:defRPr sz="2000"/>
            </a:pPr>
            <a:r>
              <a:t>• أقرب نقطة انقلاب: الاستدامة عند الوزن 0.31 (الحالي 0.10) ويصبح الفائز محتوى</a:t>
            </a:r>
          </a:p>
          <a:p>
            <a:pPr algn="r" rtl="1">
              <a:defRPr sz="2000"/>
            </a:pPr>
            <a:r>
              <a:t>• هامش الأمان: الفائز يصمد أمام تغيير نسبي ±34% لكل وزن على حدة، في أي تركيبة</a:t>
            </a:r>
          </a:p>
          <a:p>
            <a:pPr algn="r" rtl="1">
              <a:defRPr sz="2000"/>
            </a:pPr>
            <a:r>
              <a:t>[المخاطر وخطة التعامل معها]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خطة التنفيذ والمتابعة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[المسؤوليات والمواعيد ومؤشرات النجاح]</a:t>
            </a:r>
          </a:p>
          <a:p>
            <a:pPr algn="r" rtl="1">
              <a:defRPr sz="2000"/>
            </a:pPr>
            <a:r>
              <a:t>التفاصيل الكاملة في implementation-guide.md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decision-model generator</dc:creator>
  <cp:keywords/>
  <dc:description>generated using python-pptx</dc:description>
  <cp:lastModifiedBy>decision-model generator</cp:lastModifiedBy>
  <cp:revision>1</cp:revision>
  <dcterms:created xsi:type="dcterms:W3CDTF">2026-01-01T00:00:00Z</dcterms:created>
  <dcterms:modified xsi:type="dcterms:W3CDTF">2026-01-01T00:00:00Z</dcterms:modified>
  <cp:category/>
</cp:coreProperties>
</file>